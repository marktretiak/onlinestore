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D3103A-97DC-6B49-D73E-909D192F9E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87BF7-ACD2-B184-FB14-D908E06FAF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A078D-FAF8-495E-A6AD-1DEBD5C1D6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075D1-8B0C-50A9-A958-031BC25F0B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76B35-509C-3E4F-F148-4B410A067A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3E29B-B421-46B6-98B2-A71331150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925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EF810-3FAD-4D5F-ACD9-02D74FD2777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6E61E-4EFB-4A08-B739-CF1FB528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0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444240"/>
            <a:ext cx="772272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1313280"/>
            <a:ext cx="65757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74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228600" y="89604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228600" y="228060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2751840" y="89604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2751840" y="228060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228600" y="366516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2751840" y="366516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body"/>
          </p:nvPr>
        </p:nvSpPr>
        <p:spPr>
          <a:xfrm>
            <a:off x="5655240" y="896040"/>
            <a:ext cx="3259800" cy="40183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888480"/>
            <a:ext cx="7495920" cy="150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276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778280" y="228600"/>
            <a:ext cx="4137120" cy="46861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28600" y="891720"/>
            <a:ext cx="3602520" cy="40230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669600"/>
            <a:ext cx="5617080" cy="12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Google Shape;86;p18"/>
          <p:cNvSpPr/>
          <p:nvPr/>
        </p:nvSpPr>
        <p:spPr>
          <a:xfrm>
            <a:off x="6732360" y="3519720"/>
            <a:ext cx="21826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8600" y="766440"/>
            <a:ext cx="6203880" cy="293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7263360" y="803160"/>
            <a:ext cx="165168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28960" y="2807640"/>
            <a:ext cx="3693240" cy="18655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94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97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28600" y="447840"/>
            <a:ext cx="7724520" cy="24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7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Database Project</a:t>
            </a:r>
            <a:endParaRPr lang="fr-FR" sz="7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2676600" y="3009960"/>
            <a:ext cx="6238440" cy="828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Made by Mark Tretiak (TDIfu-23)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107;p25"/>
          <p:cNvSpPr/>
          <p:nvPr/>
        </p:nvSpPr>
        <p:spPr>
          <a:xfrm rot="16200000">
            <a:off x="-304560" y="3972240"/>
            <a:ext cx="82836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MM/DD/20XX</a:t>
            </a: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41" name="Google Shape;108;p25"/>
          <p:cNvCxnSpPr/>
          <p:nvPr/>
        </p:nvCxnSpPr>
        <p:spPr>
          <a:xfrm>
            <a:off x="114120" y="4451760"/>
            <a:ext cx="360" cy="7491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42" name="Google Shape;109;p25"/>
          <p:cNvCxnSpPr/>
          <p:nvPr/>
        </p:nvCxnSpPr>
        <p:spPr>
          <a:xfrm>
            <a:off x="5219280" y="3838320"/>
            <a:ext cx="36964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633CB6-8723-FC0C-312E-B2EF2E378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7393"/>
            <a:ext cx="1344765" cy="134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Overview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185760" y="1116783"/>
            <a:ext cx="3648189" cy="360543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Space Grotesk"/>
              </a:rPr>
              <a:t>  My course project is based on designing and implementing a complete relational database in Microsoft SQL Server.</a:t>
            </a:r>
            <a:br>
              <a:rPr lang="en-US" sz="1400" dirty="0">
                <a:latin typeface="Space Grotesk"/>
              </a:rPr>
            </a:br>
            <a:r>
              <a:rPr lang="en-US" sz="1400" dirty="0">
                <a:latin typeface="Space Grotesk"/>
              </a:rPr>
              <a:t>  I created a database for a small </a:t>
            </a:r>
            <a:r>
              <a:rPr lang="en-US" sz="1400" b="1" dirty="0">
                <a:latin typeface="Space Grotesk"/>
              </a:rPr>
              <a:t>online store</a:t>
            </a:r>
            <a:r>
              <a:rPr lang="en-US" sz="1400" dirty="0">
                <a:latin typeface="Space Grotesk"/>
              </a:rPr>
              <a:t>, which includes customers, products, categories, orders, payments, logs.</a:t>
            </a:r>
            <a:br>
              <a:rPr lang="en-US" sz="1400" dirty="0">
                <a:latin typeface="Space Grotesk"/>
              </a:rPr>
            </a:br>
            <a:r>
              <a:rPr lang="en-US" sz="1400" dirty="0">
                <a:latin typeface="Space Grotesk"/>
              </a:rPr>
              <a:t>  All required SQL concepts were implemented inside the .</a:t>
            </a:r>
            <a:r>
              <a:rPr lang="en-US" sz="1400" dirty="0" err="1">
                <a:latin typeface="Space Grotesk"/>
              </a:rPr>
              <a:t>sql</a:t>
            </a:r>
            <a:r>
              <a:rPr lang="en-US" sz="1400" dirty="0">
                <a:latin typeface="Space Grotesk"/>
              </a:rPr>
              <a:t> file, including table creation, data manipulation, queries, joins, a view, a function and trigger.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Space Grotesk"/>
            </a:endParaRPr>
          </a:p>
        </p:txBody>
      </p:sp>
      <p:pic>
        <p:nvPicPr>
          <p:cNvPr id="3074" name="Picture 2" descr="SQL Is Cool Again. How modern analysts ship faster with AI… | by Neurobyte  | Nov, 2025 | Medium">
            <a:extLst>
              <a:ext uri="{FF2B5EF4-FFF2-40B4-BE49-F238E27FC236}">
                <a16:creationId xmlns:a16="http://schemas.microsoft.com/office/drawing/2014/main" id="{AA919B4C-AD9C-DF00-FF84-8EA47D861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357088" y="1306194"/>
            <a:ext cx="4229206" cy="281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A9D480-D021-EFFD-33DD-419C08B21964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2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Database Design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130630" y="783792"/>
            <a:ext cx="4266719" cy="41311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Space Grotesk"/>
              </a:rPr>
              <a:t>  The script begins by creating a new database called </a:t>
            </a:r>
            <a:r>
              <a:rPr lang="en-US" sz="1400" b="1" dirty="0" err="1">
                <a:latin typeface="Space Grotesk"/>
              </a:rPr>
              <a:t>OnlineStore</a:t>
            </a:r>
            <a:r>
              <a:rPr lang="en-US" sz="1400" dirty="0">
                <a:latin typeface="Space Grotesk"/>
              </a:rPr>
              <a:t>.</a:t>
            </a:r>
            <a:br>
              <a:rPr lang="en-US" sz="1400" dirty="0">
                <a:latin typeface="Space Grotesk"/>
              </a:rPr>
            </a:br>
            <a:r>
              <a:rPr lang="en-US" sz="1400" dirty="0">
                <a:latin typeface="Space Grotesk"/>
              </a:rPr>
              <a:t>  I designed seven tables needed for an online shop.</a:t>
            </a:r>
          </a:p>
          <a:p>
            <a:r>
              <a:rPr lang="en-US" sz="1400" dirty="0">
                <a:latin typeface="Space Grotesk"/>
              </a:rPr>
              <a:t>Every table includes an </a:t>
            </a:r>
            <a:r>
              <a:rPr lang="en-US" sz="1400" b="1" dirty="0">
                <a:latin typeface="Space Grotesk"/>
              </a:rPr>
              <a:t>auto-incrementing Primary Key (INT IDENTITY)</a:t>
            </a:r>
            <a:r>
              <a:rPr lang="en-US" sz="1400" dirty="0">
                <a:latin typeface="Space Grotesk"/>
              </a:rPr>
              <a:t> to uniquely identify each record.</a:t>
            </a:r>
          </a:p>
          <a:p>
            <a:r>
              <a:rPr lang="en-US" sz="1400" dirty="0">
                <a:latin typeface="Space Grotesk"/>
              </a:rPr>
              <a:t>  I also defined </a:t>
            </a:r>
            <a:r>
              <a:rPr lang="en-US" sz="1400" b="1" dirty="0">
                <a:latin typeface="Space Grotesk"/>
              </a:rPr>
              <a:t>Foreign Keys</a:t>
            </a:r>
            <a:r>
              <a:rPr lang="en-US" sz="1400" dirty="0">
                <a:latin typeface="Space Grotesk"/>
              </a:rPr>
              <a:t> to maintain relationships: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Orders →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Products →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</a:t>
            </a:r>
            <a:r>
              <a:rPr lang="en-US" sz="1400" dirty="0" err="1">
                <a:latin typeface="Space Grotesk"/>
              </a:rPr>
              <a:t>OrderItems</a:t>
            </a:r>
            <a:r>
              <a:rPr lang="en-US" sz="1400" dirty="0">
                <a:latin typeface="Space Grotesk"/>
              </a:rPr>
              <a:t> →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</a:t>
            </a:r>
            <a:r>
              <a:rPr lang="en-US" sz="1400" dirty="0" err="1">
                <a:latin typeface="Space Grotesk"/>
              </a:rPr>
              <a:t>OrderItems</a:t>
            </a:r>
            <a:r>
              <a:rPr lang="en-US" sz="1400" dirty="0">
                <a:latin typeface="Space Grotesk"/>
              </a:rPr>
              <a:t> →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Payments →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Logs → Customers</a:t>
            </a:r>
          </a:p>
          <a:p>
            <a:r>
              <a:rPr lang="en-US" sz="1400" dirty="0">
                <a:latin typeface="Space Grotesk"/>
              </a:rPr>
              <a:t>  A </a:t>
            </a:r>
            <a:r>
              <a:rPr lang="en-US" sz="1400" b="1" dirty="0">
                <a:latin typeface="Space Grotesk"/>
              </a:rPr>
              <a:t>many-to-many relationship</a:t>
            </a:r>
            <a:r>
              <a:rPr lang="en-US" sz="1400" dirty="0">
                <a:latin typeface="Space Grotesk"/>
              </a:rPr>
              <a:t> between </a:t>
            </a:r>
            <a:r>
              <a:rPr lang="en-US" sz="1400" i="1" dirty="0">
                <a:latin typeface="Space Grotesk"/>
              </a:rPr>
              <a:t>Orders</a:t>
            </a:r>
            <a:r>
              <a:rPr lang="en-US" sz="1400" dirty="0">
                <a:latin typeface="Space Grotesk"/>
              </a:rPr>
              <a:t> and </a:t>
            </a:r>
            <a:r>
              <a:rPr lang="en-US" sz="1400" i="1" dirty="0">
                <a:latin typeface="Space Grotesk"/>
              </a:rPr>
              <a:t>Products</a:t>
            </a:r>
            <a:r>
              <a:rPr lang="en-US" sz="1400" dirty="0">
                <a:latin typeface="Space Grotesk"/>
              </a:rPr>
              <a:t> is implemented through the </a:t>
            </a:r>
            <a:r>
              <a:rPr lang="en-US" sz="1400" dirty="0" err="1">
                <a:latin typeface="Space Grotesk"/>
              </a:rPr>
              <a:t>OrderItems</a:t>
            </a:r>
            <a:r>
              <a:rPr lang="en-US" sz="1400" dirty="0">
                <a:latin typeface="Space Grotesk"/>
              </a:rPr>
              <a:t> junction table, which also contains a UNIQUE constraint to prevent duplicates.</a:t>
            </a:r>
          </a:p>
          <a:p>
            <a:r>
              <a:rPr lang="en-US" sz="1400" dirty="0">
                <a:latin typeface="Space Grotesk"/>
              </a:rPr>
              <a:t>  The database uses a wide range of </a:t>
            </a:r>
            <a:r>
              <a:rPr lang="en-US" sz="1400" b="1" dirty="0">
                <a:latin typeface="Space Grotesk"/>
              </a:rPr>
              <a:t>data types</a:t>
            </a:r>
            <a:r>
              <a:rPr lang="en-US" sz="1400" dirty="0">
                <a:latin typeface="Space Grotesk"/>
              </a:rPr>
              <a:t>, such as INT, VARCHAR, DATETIME, DECIMAL, and BIT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Space Grotes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068A18-FF41-3A26-4546-73A3D68BF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432" y="3240749"/>
            <a:ext cx="3526377" cy="12798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6570DB-ED07-EBA6-2930-20D7F1202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146" y="505268"/>
            <a:ext cx="3790950" cy="76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E3DA52-EF31-A51E-EF1E-D71230254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908" y="1706704"/>
            <a:ext cx="3899424" cy="10502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9BC5E2-EE6D-3CB2-F10F-79F0C74062C3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3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04216" y="243840"/>
            <a:ext cx="1844040" cy="58598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Indexes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204215" y="967092"/>
            <a:ext cx="3674101" cy="36679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Space Grotesk"/>
              </a:rPr>
              <a:t>  To improve performance, the project includes several indexes: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A </a:t>
            </a:r>
            <a:r>
              <a:rPr lang="en-US" sz="1400" b="1" dirty="0">
                <a:latin typeface="Space Grotesk"/>
              </a:rPr>
              <a:t>unique index</a:t>
            </a:r>
            <a:r>
              <a:rPr lang="en-US" sz="1400" dirty="0">
                <a:latin typeface="Space Grotesk"/>
              </a:rPr>
              <a:t> on customer emails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An index on ProductName to speed up product searches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Space Grotesk"/>
              </a:rPr>
              <a:t> An index on </a:t>
            </a:r>
            <a:r>
              <a:rPr lang="en-US" sz="1400" dirty="0" err="1">
                <a:latin typeface="Space Grotesk"/>
              </a:rPr>
              <a:t>OrderDate</a:t>
            </a:r>
            <a:r>
              <a:rPr lang="en-US" sz="1400" dirty="0">
                <a:latin typeface="Space Grotesk"/>
              </a:rPr>
              <a:t> for efficient sorting and filtering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Space Grotesk"/>
              </a:rPr>
              <a:t>  These meet the requirement of demonstrating both </a:t>
            </a:r>
            <a:r>
              <a:rPr lang="en-US" sz="1400" b="1" dirty="0">
                <a:latin typeface="Space Grotesk"/>
              </a:rPr>
              <a:t>unique</a:t>
            </a:r>
            <a:r>
              <a:rPr lang="en-US" sz="1400" dirty="0">
                <a:latin typeface="Space Grotesk"/>
              </a:rPr>
              <a:t> and </a:t>
            </a:r>
            <a:r>
              <a:rPr lang="en-US" sz="1400" b="1" dirty="0">
                <a:latin typeface="Space Grotesk"/>
              </a:rPr>
              <a:t>non-unique</a:t>
            </a:r>
            <a:r>
              <a:rPr lang="en-US" sz="1400" dirty="0">
                <a:latin typeface="Space Grotesk"/>
              </a:rPr>
              <a:t> indexes.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592527-1911-2F2E-7261-F56EC9B27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835" y="1653920"/>
            <a:ext cx="4552950" cy="581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06C307-9733-3625-9D81-224D812C72AB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4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6048" y="168988"/>
            <a:ext cx="3082159" cy="59313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Data Manipulation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5CEBA4-DC92-6B41-ABD7-71E803561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32" y="1527201"/>
            <a:ext cx="344236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The Course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Project.sql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file contains full examples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INSERT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statements using multi-row inserts for all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UPDATE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operations, such as applying discounts and increasing stock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DELETE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operations applied to filtered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TRUNCATE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 operation on the Logs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pace Grotesk"/>
              </a:rPr>
              <a:t>This demonstrates all required types of data manipulation.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EC489A-6B6A-CBB8-497F-B92EAFF0C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86" y="1017751"/>
            <a:ext cx="3556090" cy="939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23C091-5F92-9BE5-CA9E-83E14EE33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793" y="2393411"/>
            <a:ext cx="4029075" cy="514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7199BE-67C5-215B-D891-D1D90024D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430" y="3254642"/>
            <a:ext cx="2971800" cy="342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F64268-CFD9-C88F-6BB9-24981AEF9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480" y="4075474"/>
            <a:ext cx="1409700" cy="2190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BBD016-9F0C-02FE-C9D2-9BDF015C2650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5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38AD-2DF0-AA71-0E66-0802A8AF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9005"/>
            <a:ext cx="1972491" cy="567720"/>
          </a:xfrm>
        </p:spPr>
        <p:txBody>
          <a:bodyPr/>
          <a:lstStyle/>
          <a:p>
            <a:r>
              <a:rPr lang="en-US" sz="2600" b="1" dirty="0">
                <a:latin typeface="Space Grotesk"/>
              </a:rPr>
              <a:t>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5449B-AC5C-233A-29C6-0D62055DC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3" t="14233" r="930" b="7731"/>
          <a:stretch/>
        </p:blipFill>
        <p:spPr>
          <a:xfrm>
            <a:off x="1665513" y="1320163"/>
            <a:ext cx="5665935" cy="26574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F6E3BD-02E2-8D28-613D-6A8D5C4EE85C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565204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167786"/>
            <a:ext cx="3958046" cy="7183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dirty="0">
                <a:latin typeface="Space Grotesk"/>
              </a:rPr>
              <a:t>Data Retrieval and Queries</a:t>
            </a: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Space Grotesk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355526" y="990035"/>
            <a:ext cx="4084127" cy="36180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dirty="0">
                <a:latin typeface="Space Grotesk"/>
              </a:rPr>
              <a:t>Aggregation and Grouping: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Space Grotesk"/>
              </a:rPr>
              <a:t>  Utilized aggregate functions like COUNT, AVG, and SUM to calculate product statistics, total spending by customers, and product stock by category.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dirty="0">
                <a:latin typeface="Space Grotesk"/>
              </a:rPr>
              <a:t>Pagination: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Space Grotesk"/>
              </a:rPr>
              <a:t>  Implemented pagination using OFFSET … FETCH NEXT to retrieve products in pages.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dirty="0">
                <a:latin typeface="Space Grotesk"/>
              </a:rPr>
              <a:t>Aggregation of Customer Spending: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Space Grotesk"/>
              </a:rPr>
              <a:t>  Summed up the total spending per customer using LEFT JOIN between </a:t>
            </a:r>
            <a:r>
              <a:rPr lang="en-US" sz="1400" b="1" dirty="0">
                <a:latin typeface="Space Grotesk"/>
              </a:rPr>
              <a:t>Customers</a:t>
            </a:r>
            <a:r>
              <a:rPr lang="en-US" sz="1400" dirty="0">
                <a:latin typeface="Space Grotesk"/>
              </a:rPr>
              <a:t> and </a:t>
            </a:r>
            <a:r>
              <a:rPr lang="en-US" sz="1400" b="1" dirty="0">
                <a:latin typeface="Space Grotesk"/>
              </a:rPr>
              <a:t>Orders</a:t>
            </a:r>
            <a:r>
              <a:rPr lang="en-US" sz="1400" dirty="0">
                <a:latin typeface="Space Grotesk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Space Grotes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180B2A-B154-6680-71FC-0CA515B04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970" y="611184"/>
            <a:ext cx="3286125" cy="1371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134FBB-9D3C-3B30-554E-7469EC883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223" y="2207092"/>
            <a:ext cx="3088198" cy="729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9D017E-7429-DEAF-BBD1-5D6722CD5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397" y="3160716"/>
            <a:ext cx="3371850" cy="1104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CE677A-C3B1-AD87-8132-4BAF01CD9691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7</a:t>
            </a: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Joins and Views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19601" y="1076399"/>
            <a:ext cx="3835042" cy="35918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1400" b="1" dirty="0">
                <a:latin typeface="Space Grotesk"/>
              </a:rPr>
              <a:t>Joins:</a:t>
            </a:r>
          </a:p>
          <a:p>
            <a:r>
              <a:rPr lang="en-US" sz="1400" b="1" dirty="0">
                <a:latin typeface="Space Grotesk"/>
              </a:rPr>
              <a:t>  INNER JOIN</a:t>
            </a:r>
            <a:r>
              <a:rPr lang="en-US" sz="1400" dirty="0">
                <a:latin typeface="Space Grotesk"/>
              </a:rPr>
              <a:t>: Combined data from </a:t>
            </a:r>
            <a:r>
              <a:rPr lang="en-US" sz="1400" b="1" dirty="0">
                <a:latin typeface="Space Grotesk"/>
              </a:rPr>
              <a:t>Customers</a:t>
            </a:r>
            <a:r>
              <a:rPr lang="en-US" sz="1400" dirty="0">
                <a:latin typeface="Space Grotesk"/>
              </a:rPr>
              <a:t> and </a:t>
            </a:r>
            <a:r>
              <a:rPr lang="en-US" sz="1400" b="1" dirty="0">
                <a:latin typeface="Space Grotesk"/>
              </a:rPr>
              <a:t>Orders</a:t>
            </a:r>
            <a:r>
              <a:rPr lang="en-US" sz="1400" dirty="0">
                <a:latin typeface="Space Grotesk"/>
              </a:rPr>
              <a:t>.</a:t>
            </a:r>
          </a:p>
          <a:p>
            <a:r>
              <a:rPr lang="en-US" sz="1400" b="1" dirty="0">
                <a:latin typeface="Space Grotesk"/>
              </a:rPr>
              <a:t>  LEFT JOIN</a:t>
            </a:r>
            <a:r>
              <a:rPr lang="en-US" sz="1400" dirty="0">
                <a:latin typeface="Space Grotesk"/>
              </a:rPr>
              <a:t>: Used to calculate total spending by customer.</a:t>
            </a:r>
          </a:p>
          <a:p>
            <a:r>
              <a:rPr lang="en-US" sz="1400" b="1" dirty="0">
                <a:latin typeface="Space Grotesk"/>
              </a:rPr>
              <a:t>  Multi-table JOIN</a:t>
            </a:r>
            <a:r>
              <a:rPr lang="en-US" sz="1400" dirty="0">
                <a:latin typeface="Space Grotesk"/>
              </a:rPr>
              <a:t>: Combined </a:t>
            </a:r>
            <a:r>
              <a:rPr lang="en-US" sz="1400" b="1" dirty="0">
                <a:latin typeface="Space Grotesk"/>
              </a:rPr>
              <a:t>Customers</a:t>
            </a:r>
            <a:r>
              <a:rPr lang="en-US" sz="1400" dirty="0">
                <a:latin typeface="Space Grotesk"/>
              </a:rPr>
              <a:t>, </a:t>
            </a:r>
            <a:r>
              <a:rPr lang="en-US" sz="1400" b="1" dirty="0">
                <a:latin typeface="Space Grotesk"/>
              </a:rPr>
              <a:t>Orders</a:t>
            </a:r>
            <a:r>
              <a:rPr lang="en-US" sz="1400" dirty="0">
                <a:latin typeface="Space Grotesk"/>
              </a:rPr>
              <a:t>, </a:t>
            </a:r>
            <a:r>
              <a:rPr lang="en-US" sz="1400" b="1" dirty="0" err="1">
                <a:latin typeface="Space Grotesk"/>
              </a:rPr>
              <a:t>OrderItems</a:t>
            </a:r>
            <a:r>
              <a:rPr lang="en-US" sz="1400" dirty="0">
                <a:latin typeface="Space Grotesk"/>
              </a:rPr>
              <a:t>, and </a:t>
            </a:r>
            <a:r>
              <a:rPr lang="en-US" sz="1400" b="1" dirty="0">
                <a:latin typeface="Space Grotesk"/>
              </a:rPr>
              <a:t>Products</a:t>
            </a:r>
            <a:r>
              <a:rPr lang="en-US" sz="1400" dirty="0">
                <a:latin typeface="Space Grotesk"/>
              </a:rPr>
              <a:t> to retrieve complete order details.</a:t>
            </a:r>
          </a:p>
          <a:p>
            <a:r>
              <a:rPr lang="en-US" sz="1400" b="1" dirty="0">
                <a:latin typeface="Space Grotesk"/>
              </a:rPr>
              <a:t>View:</a:t>
            </a:r>
          </a:p>
          <a:p>
            <a:r>
              <a:rPr lang="en-US" sz="1400" dirty="0">
                <a:latin typeface="Space Grotesk"/>
              </a:rPr>
              <a:t>  Created a view named </a:t>
            </a:r>
            <a:r>
              <a:rPr lang="en-US" sz="1400" dirty="0" err="1">
                <a:latin typeface="Space Grotesk"/>
              </a:rPr>
              <a:t>OrderDetails</a:t>
            </a:r>
            <a:r>
              <a:rPr lang="en-US" sz="1400" dirty="0">
                <a:latin typeface="Space Grotesk"/>
              </a:rPr>
              <a:t> that combines data from </a:t>
            </a:r>
            <a:r>
              <a:rPr lang="en-US" sz="1400" b="1" dirty="0">
                <a:latin typeface="Space Grotesk"/>
              </a:rPr>
              <a:t>Customers</a:t>
            </a:r>
            <a:r>
              <a:rPr lang="en-US" sz="1400" dirty="0">
                <a:latin typeface="Space Grotesk"/>
              </a:rPr>
              <a:t>, </a:t>
            </a:r>
            <a:r>
              <a:rPr lang="en-US" sz="1400" b="1" dirty="0">
                <a:latin typeface="Space Grotesk"/>
              </a:rPr>
              <a:t>Orders</a:t>
            </a:r>
            <a:r>
              <a:rPr lang="en-US" sz="1400" dirty="0">
                <a:latin typeface="Space Grotesk"/>
              </a:rPr>
              <a:t>, </a:t>
            </a:r>
            <a:r>
              <a:rPr lang="en-US" sz="1400" b="1" dirty="0" err="1">
                <a:latin typeface="Space Grotesk"/>
              </a:rPr>
              <a:t>OrderItems</a:t>
            </a:r>
            <a:r>
              <a:rPr lang="en-US" sz="1400" dirty="0">
                <a:latin typeface="Space Grotesk"/>
              </a:rPr>
              <a:t>, and </a:t>
            </a:r>
            <a:r>
              <a:rPr lang="en-US" sz="1400" b="1" dirty="0">
                <a:latin typeface="Space Grotesk"/>
              </a:rPr>
              <a:t>Products</a:t>
            </a:r>
            <a:r>
              <a:rPr lang="en-US" sz="1400" dirty="0">
                <a:latin typeface="Space Grotesk"/>
              </a:rPr>
              <a:t>, making it easier to query for detailed order information.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27ADC-BCB6-29D0-4553-DD3689F13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359" y="952065"/>
            <a:ext cx="3105150" cy="514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AA7547-BB99-7D3D-B1CE-BE6F51574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359" y="1921543"/>
            <a:ext cx="3057525" cy="819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7016C3-43C7-E1E7-BAB8-91170D499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899" y="3859129"/>
            <a:ext cx="59055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AFFD82-89B7-1E9D-65E8-14776DEB5C82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8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32347" y="152394"/>
            <a:ext cx="7423484" cy="60972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Procedures, Functions, Triggers, and Transactions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286086" y="1476322"/>
            <a:ext cx="3407609" cy="33724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en-US" sz="1400" b="1" dirty="0">
                <a:latin typeface="Space Grotesk"/>
              </a:rPr>
              <a:t>SQL Function:</a:t>
            </a:r>
          </a:p>
          <a:p>
            <a:r>
              <a:rPr lang="en-US" sz="1400" b="1" dirty="0">
                <a:latin typeface="Space Grotesk"/>
              </a:rPr>
              <a:t>  </a:t>
            </a:r>
            <a:r>
              <a:rPr lang="en-US" sz="1400" b="1" dirty="0" err="1">
                <a:latin typeface="Space Grotesk"/>
              </a:rPr>
              <a:t>GetOrderTotal</a:t>
            </a:r>
            <a:r>
              <a:rPr lang="en-US" sz="1400" dirty="0">
                <a:latin typeface="Space Grotesk"/>
              </a:rPr>
              <a:t>: Calculates the total value of an order by summing up the price and quantity of products in the order.</a:t>
            </a:r>
          </a:p>
          <a:p>
            <a:r>
              <a:rPr lang="en-US" sz="1400" b="1" dirty="0">
                <a:latin typeface="Space Grotesk"/>
              </a:rPr>
              <a:t>Trigger:</a:t>
            </a:r>
          </a:p>
          <a:p>
            <a:r>
              <a:rPr lang="en-US" sz="1400" b="1" dirty="0">
                <a:latin typeface="Space Grotesk"/>
              </a:rPr>
              <a:t>  </a:t>
            </a:r>
            <a:r>
              <a:rPr lang="en-US" sz="1400" b="1" dirty="0" err="1">
                <a:latin typeface="Space Grotesk"/>
              </a:rPr>
              <a:t>UpdateOrderTotal</a:t>
            </a:r>
            <a:r>
              <a:rPr lang="en-US" sz="1400" dirty="0">
                <a:latin typeface="Space Grotesk"/>
              </a:rPr>
              <a:t>: Automatically updates the Total field in the Orders table whenever </a:t>
            </a:r>
            <a:r>
              <a:rPr lang="en-US" sz="1400" dirty="0" err="1">
                <a:latin typeface="Space Grotesk"/>
              </a:rPr>
              <a:t>OrderItems</a:t>
            </a:r>
            <a:r>
              <a:rPr lang="en-US" sz="1400" dirty="0">
                <a:latin typeface="Space Grotesk"/>
              </a:rPr>
              <a:t> are inserted, updated, or deleted.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5E9A39-8D5A-0081-EFA5-74EF734AE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048" y="1707839"/>
            <a:ext cx="3407609" cy="5907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9DAC6C-AA8F-8EE6-EE2B-199FC6747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010" y="2410316"/>
            <a:ext cx="3733998" cy="8323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C27E03-C9BD-3D5C-0F44-6983B6DD6274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9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SQL and why is it beneficial for businesses?">
            <a:extLst>
              <a:ext uri="{FF2B5EF4-FFF2-40B4-BE49-F238E27FC236}">
                <a16:creationId xmlns:a16="http://schemas.microsoft.com/office/drawing/2014/main" id="{CAB45B9E-30F3-73AA-988C-2F62A0462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561" y="648643"/>
            <a:ext cx="4898950" cy="32559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219600" y="1209240"/>
            <a:ext cx="3470657" cy="269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latin typeface="Space Grotesk"/>
              </a:rPr>
              <a:t>  This project demonstrates practical experience in designing and implementing a relational database in </a:t>
            </a:r>
            <a:r>
              <a:rPr lang="en-US" sz="1400" b="1" dirty="0">
                <a:latin typeface="Space Grotesk"/>
              </a:rPr>
              <a:t>Microsoft SQL Server</a:t>
            </a:r>
            <a:r>
              <a:rPr lang="en-US" sz="1400" dirty="0">
                <a:latin typeface="Space Grotesk"/>
              </a:rPr>
              <a:t>, covering all aspects of database management, from creation and population to querying and advanced operations.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Space Grotes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9611B-392A-F887-7658-16E2AF90E4BA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10</a:t>
            </a: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8600" y="-416160"/>
            <a:ext cx="5619240" cy="237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Thank you</a:t>
            </a:r>
            <a:endParaRPr lang="fr-FR" sz="7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225000" y="2566045"/>
            <a:ext cx="2609640" cy="4001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1" u="none" strike="noStrike" dirty="0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Do you have any questions?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70" name="Google Shape;311;p38"/>
          <p:cNvCxnSpPr/>
          <p:nvPr/>
        </p:nvCxnSpPr>
        <p:spPr>
          <a:xfrm>
            <a:off x="290520" y="3008880"/>
            <a:ext cx="25441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45B59A2-3A2D-B077-105D-0043E2A80694}"/>
              </a:ext>
            </a:extLst>
          </p:cNvPr>
          <p:cNvSpPr txBox="1"/>
          <p:nvPr/>
        </p:nvSpPr>
        <p:spPr>
          <a:xfrm>
            <a:off x="8596822" y="4800599"/>
            <a:ext cx="378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Space Grotesk"/>
              </a:rPr>
              <a:t>11</a:t>
            </a: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591</Words>
  <Application>Microsoft Office PowerPoint</Application>
  <PresentationFormat>On-screen Show (16:9)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Hind</vt:lpstr>
      <vt:lpstr>OpenSymbol</vt:lpstr>
      <vt:lpstr>Space Grotesk</vt:lpstr>
      <vt:lpstr>Symbol</vt:lpstr>
      <vt:lpstr>Wingdings</vt:lpstr>
      <vt:lpstr>Dark Theme by Slidesgo</vt:lpstr>
      <vt:lpstr>Slidesgo Final Pages</vt:lpstr>
      <vt:lpstr>Database Project</vt:lpstr>
      <vt:lpstr>Overview</vt:lpstr>
      <vt:lpstr>Database Design</vt:lpstr>
      <vt:lpstr>Indexes</vt:lpstr>
      <vt:lpstr>Data Manipulation</vt:lpstr>
      <vt:lpstr>Diagram</vt:lpstr>
      <vt:lpstr>Data Retrieval and Queries</vt:lpstr>
      <vt:lpstr>Joins and Views</vt:lpstr>
      <vt:lpstr>Procedures, Functions, Triggers, and Transactions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Tretiak Mark</cp:lastModifiedBy>
  <cp:revision>15</cp:revision>
  <dcterms:modified xsi:type="dcterms:W3CDTF">2025-12-03T07:24:36Z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2025-11-30T14:20:30Z</dcterms:created>
  <dc:creator>Unknown Creator</dc:creator>
  <dc:description/>
  <dc:language>en-US</dc:language>
  <cp:lastModifiedBy>Unknown Creator</cp:lastModifiedBy>
  <dcterms:modified xsi:type="dcterms:W3CDTF">2025-11-30T14:20:30Z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