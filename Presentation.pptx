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8" r:id="rId2"/>
  </p:sldMasterIdLst>
  <p:notesMasterIdLst>
    <p:notesMasterId r:id="rId14"/>
  </p:notesMasterIdLst>
  <p:handoutMasterIdLst>
    <p:handoutMasterId r:id="rId15"/>
  </p:handoutMasterIdLst>
  <p:sldIdLst>
    <p:sldId id="256" r:id="rId3"/>
    <p:sldId id="257" r:id="rId4"/>
    <p:sldId id="259" r:id="rId5"/>
    <p:sldId id="260" r:id="rId6"/>
    <p:sldId id="261" r:id="rId7"/>
    <p:sldId id="268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53" autoAdjust="0"/>
    <p:restoredTop sz="94660"/>
  </p:normalViewPr>
  <p:slideViewPr>
    <p:cSldViewPr snapToGrid="0">
      <p:cViewPr varScale="1">
        <p:scale>
          <a:sx n="146" d="100"/>
          <a:sy n="146" d="100"/>
        </p:scale>
        <p:origin x="55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3D3103A-97DC-6B49-D73E-909D192F9E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987BF7-ACD2-B184-FB14-D908E06FAF4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1A078D-FAF8-495E-A6AD-1DEBD5C1D6D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F075D1-8B0C-50A9-A958-031BC25F0B1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E76B35-509C-3E4F-F148-4B410A067AD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13E29B-B421-46B6-98B2-A713311509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79256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4EF810-3FAD-4D5F-ACD9-02D74FD27771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B6E61E-4EFB-4A08-B739-CF1FB528E8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80858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tBDf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228600" y="444240"/>
            <a:ext cx="7722720" cy="2430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77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IG_NUMB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228600" y="1313280"/>
            <a:ext cx="657576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7400" b="1" u="none" strike="noStrike">
                <a:solidFill>
                  <a:schemeClr val="accent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7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4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" name="PlaceHolder 2"/>
          <p:cNvSpPr>
            <a:spLocks noGrp="1"/>
          </p:cNvSpPr>
          <p:nvPr>
            <p:ph type="title"/>
          </p:nvPr>
        </p:nvSpPr>
        <p:spPr>
          <a:xfrm>
            <a:off x="228600" y="896040"/>
            <a:ext cx="734400" cy="553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title"/>
          </p:nvPr>
        </p:nvSpPr>
        <p:spPr>
          <a:xfrm>
            <a:off x="228600" y="2280600"/>
            <a:ext cx="734400" cy="553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title"/>
          </p:nvPr>
        </p:nvSpPr>
        <p:spPr>
          <a:xfrm>
            <a:off x="2751840" y="896040"/>
            <a:ext cx="734400" cy="553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title"/>
          </p:nvPr>
        </p:nvSpPr>
        <p:spPr>
          <a:xfrm>
            <a:off x="2751840" y="2280600"/>
            <a:ext cx="734400" cy="553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6"/>
          <p:cNvSpPr>
            <a:spLocks noGrp="1"/>
          </p:cNvSpPr>
          <p:nvPr>
            <p:ph type="title"/>
          </p:nvPr>
        </p:nvSpPr>
        <p:spPr>
          <a:xfrm>
            <a:off x="228600" y="3665160"/>
            <a:ext cx="734400" cy="553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7"/>
          <p:cNvSpPr>
            <a:spLocks noGrp="1"/>
          </p:cNvSpPr>
          <p:nvPr>
            <p:ph type="title"/>
          </p:nvPr>
        </p:nvSpPr>
        <p:spPr>
          <a:xfrm>
            <a:off x="2751840" y="3665160"/>
            <a:ext cx="734400" cy="553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8"/>
          <p:cNvSpPr>
            <a:spLocks noGrp="1"/>
          </p:cNvSpPr>
          <p:nvPr>
            <p:ph type="body"/>
          </p:nvPr>
        </p:nvSpPr>
        <p:spPr>
          <a:xfrm>
            <a:off x="5655240" y="896040"/>
            <a:ext cx="3259800" cy="401832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0000" tIns="45000" rIns="90000" bIns="4500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4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228600" y="888480"/>
            <a:ext cx="7495920" cy="1507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4262760" cy="984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778280" y="228600"/>
            <a:ext cx="4137120" cy="468612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6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4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228600" y="891720"/>
            <a:ext cx="3602520" cy="402300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0000" tIns="45000" rIns="90000" bIns="4500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5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08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3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228600" y="669600"/>
            <a:ext cx="5617080" cy="12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7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9" name="Google Shape;86;p18"/>
          <p:cNvSpPr/>
          <p:nvPr/>
        </p:nvSpPr>
        <p:spPr>
          <a:xfrm>
            <a:off x="6732360" y="3519720"/>
            <a:ext cx="2182680" cy="799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algn="r" defTabSz="914400">
              <a:lnSpc>
                <a:spcPct val="100000"/>
              </a:lnSpc>
              <a:spcBef>
                <a:spcPts val="300"/>
              </a:spcBef>
              <a:tabLst>
                <a:tab pos="0" algn="l"/>
              </a:tabLst>
            </a:pPr>
            <a:r>
              <a:rPr lang="en" sz="1000" b="1" u="none" strike="noStrike">
                <a:solidFill>
                  <a:schemeClr val="dk1"/>
                </a:solidFill>
                <a:effectLst/>
                <a:uFillTx/>
                <a:latin typeface="Hind"/>
                <a:ea typeface="Hind"/>
              </a:rPr>
              <a:t>CREDITS: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Hind"/>
                <a:ea typeface="Hind"/>
              </a:rPr>
              <a:t> This presentation template was created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Hind"/>
                <a:ea typeface="Hind"/>
                <a:hlinkClick r:id="rId2"/>
              </a:rPr>
              <a:t>Slidesgo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Hind"/>
                <a:ea typeface="Hind"/>
              </a:rPr>
              <a:t>, and includes icons, infographics &amp; images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Hind"/>
                <a:ea typeface="Hind"/>
                <a:hlinkClick r:id="rId3"/>
              </a:rPr>
              <a:t>Freepik</a:t>
            </a:r>
            <a:r>
              <a:rPr lang="en" sz="1000" b="0" u="sng" strike="noStrike">
                <a:solidFill>
                  <a:schemeClr val="dk1"/>
                </a:solidFill>
                <a:effectLst/>
                <a:uFillTx/>
                <a:latin typeface="Hind"/>
                <a:ea typeface="Hind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9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9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228600" y="766440"/>
            <a:ext cx="6203880" cy="2930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5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1" name="PlaceHolder 2"/>
          <p:cNvSpPr>
            <a:spLocks noGrp="1"/>
          </p:cNvSpPr>
          <p:nvPr>
            <p:ph type="title"/>
          </p:nvPr>
        </p:nvSpPr>
        <p:spPr>
          <a:xfrm>
            <a:off x="7263360" y="803160"/>
            <a:ext cx="1651680" cy="1107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 algn="r">
              <a:lnSpc>
                <a:spcPct val="100000"/>
              </a:lnSpc>
              <a:buNone/>
            </a:pPr>
            <a:r>
              <a:rPr lang="fr-FR" sz="6000" b="1" u="none" strike="noStrike">
                <a:solidFill>
                  <a:schemeClr val="accent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720000" y="1215720"/>
            <a:ext cx="7703640" cy="3416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_AND_TWO_COLUMNS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4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228960" y="2807640"/>
            <a:ext cx="3693240" cy="186552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0000" tIns="45000" rIns="90000" bIns="45000" anchor="t">
            <a:normAutofit fontScale="77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4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476352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AIN_POI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1768680" y="1307160"/>
            <a:ext cx="5606640" cy="25290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TITLE_AND_DESCRIPTION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2135520" y="1441800"/>
            <a:ext cx="4872600" cy="1186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APTION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1" name="PlaceHolder 2"/>
          <p:cNvSpPr>
            <a:spLocks noGrp="1"/>
          </p:cNvSpPr>
          <p:nvPr>
            <p:ph type="title"/>
          </p:nvPr>
        </p:nvSpPr>
        <p:spPr>
          <a:xfrm>
            <a:off x="720000" y="4014360"/>
            <a:ext cx="7703640" cy="57240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imple-light-2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2_1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94;p23"/>
          <p:cNvSpPr/>
          <p:nvPr/>
        </p:nvSpPr>
        <p:spPr>
          <a:xfrm>
            <a:off x="0" y="-10440"/>
            <a:ext cx="9143640" cy="118044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713160" y="539640"/>
            <a:ext cx="771732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2_1_1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97;p24"/>
          <p:cNvSpPr/>
          <p:nvPr/>
        </p:nvSpPr>
        <p:spPr>
          <a:xfrm>
            <a:off x="0" y="-10440"/>
            <a:ext cx="9143640" cy="118044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728640" y="539640"/>
            <a:ext cx="334728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6" name="PlaceHolder 2"/>
          <p:cNvSpPr>
            <a:spLocks noGrp="1"/>
          </p:cNvSpPr>
          <p:nvPr>
            <p:ph type="title"/>
          </p:nvPr>
        </p:nvSpPr>
        <p:spPr>
          <a:xfrm>
            <a:off x="4977720" y="539640"/>
            <a:ext cx="345816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228600" y="447840"/>
            <a:ext cx="7724520" cy="2428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77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Database Project</a:t>
            </a:r>
            <a:endParaRPr lang="fr-FR" sz="77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subTitle"/>
          </p:nvPr>
        </p:nvSpPr>
        <p:spPr>
          <a:xfrm>
            <a:off x="2676600" y="3009960"/>
            <a:ext cx="6238440" cy="828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Hind"/>
                <a:ea typeface="Hind"/>
              </a:rPr>
              <a:t>Made by Mark Tretiak (TDIfu-23)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40" name="Google Shape;107;p25"/>
          <p:cNvSpPr/>
          <p:nvPr/>
        </p:nvSpPr>
        <p:spPr>
          <a:xfrm rot="16200000">
            <a:off x="-304560" y="3972240"/>
            <a:ext cx="828360" cy="123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" sz="800" b="0" u="none" strike="noStrike" dirty="0">
                <a:solidFill>
                  <a:schemeClr val="dk1"/>
                </a:solidFill>
                <a:effectLst/>
                <a:uFillTx/>
                <a:latin typeface="Arial"/>
              </a:rPr>
              <a:t>MM/DD/20XX</a:t>
            </a:r>
            <a:endParaRPr lang="en-US" sz="8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cxnSp>
        <p:nvCxnSpPr>
          <p:cNvPr id="41" name="Google Shape;108;p25"/>
          <p:cNvCxnSpPr/>
          <p:nvPr/>
        </p:nvCxnSpPr>
        <p:spPr>
          <a:xfrm>
            <a:off x="114120" y="4451760"/>
            <a:ext cx="360" cy="749160"/>
          </a:xfrm>
          <a:prstGeom prst="straightConnector1">
            <a:avLst/>
          </a:prstGeom>
          <a:ln w="9525">
            <a:solidFill>
              <a:srgbClr val="FFFFFF"/>
            </a:solidFill>
            <a:round/>
          </a:ln>
        </p:spPr>
      </p:cxnSp>
      <p:cxnSp>
        <p:nvCxnSpPr>
          <p:cNvPr id="42" name="Google Shape;109;p25"/>
          <p:cNvCxnSpPr/>
          <p:nvPr/>
        </p:nvCxnSpPr>
        <p:spPr>
          <a:xfrm>
            <a:off x="5219280" y="3838320"/>
            <a:ext cx="3696480" cy="360"/>
          </a:xfrm>
          <a:prstGeom prst="straightConnector1">
            <a:avLst/>
          </a:prstGeom>
          <a:ln w="9525">
            <a:solidFill>
              <a:srgbClr val="FFFFFF"/>
            </a:solidFill>
            <a:round/>
          </a:ln>
        </p:spPr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58633CB6-8723-FC0C-312E-B2EF2E3781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" y="147393"/>
            <a:ext cx="1344765" cy="1344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>
    <p:pull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4266720" cy="980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Overview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ubTitle"/>
          </p:nvPr>
        </p:nvSpPr>
        <p:spPr>
          <a:xfrm>
            <a:off x="185760" y="1116783"/>
            <a:ext cx="3648189" cy="3605439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lnSpcReduction="10000"/>
          </a:bodyPr>
          <a:lstStyle/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dirty="0">
                <a:latin typeface="Space Grotesk"/>
              </a:rPr>
              <a:t>  My course project is based on designing and implementing a complete relational database in Microsoft SQL Server.</a:t>
            </a:r>
            <a:br>
              <a:rPr lang="en-US" sz="1400" dirty="0">
                <a:latin typeface="Space Grotesk"/>
              </a:rPr>
            </a:br>
            <a:r>
              <a:rPr lang="en-US" sz="1400" dirty="0">
                <a:latin typeface="Space Grotesk"/>
              </a:rPr>
              <a:t>  I created a database for a small </a:t>
            </a:r>
            <a:r>
              <a:rPr lang="en-US" sz="1400" b="1" dirty="0">
                <a:latin typeface="Space Grotesk"/>
              </a:rPr>
              <a:t>online store</a:t>
            </a:r>
            <a:r>
              <a:rPr lang="en-US" sz="1400" dirty="0">
                <a:latin typeface="Space Grotesk"/>
              </a:rPr>
              <a:t>, which includes customers, products, categories, orders, payments, logs.</a:t>
            </a:r>
            <a:br>
              <a:rPr lang="en-US" sz="1400" dirty="0">
                <a:latin typeface="Space Grotesk"/>
              </a:rPr>
            </a:br>
            <a:r>
              <a:rPr lang="en-US" sz="1400" dirty="0">
                <a:latin typeface="Space Grotesk"/>
              </a:rPr>
              <a:t>  All required SQL concepts were implemented inside the .</a:t>
            </a:r>
            <a:r>
              <a:rPr lang="en-US" sz="1400" dirty="0" err="1">
                <a:latin typeface="Space Grotesk"/>
              </a:rPr>
              <a:t>sql</a:t>
            </a:r>
            <a:r>
              <a:rPr lang="en-US" sz="1400" dirty="0">
                <a:latin typeface="Space Grotesk"/>
              </a:rPr>
              <a:t> file, including table creation, data manipulation, queries, joins, a view, a stored procedure, a function, a trigger, and a transaction.</a:t>
            </a:r>
            <a:endParaRPr lang="en-US" sz="2800" b="0" u="none" strike="noStrike" dirty="0">
              <a:solidFill>
                <a:srgbClr val="FFFFFF"/>
              </a:solidFill>
              <a:effectLst/>
              <a:uFillTx/>
              <a:latin typeface="Space Grotesk"/>
            </a:endParaRPr>
          </a:p>
        </p:txBody>
      </p:sp>
      <p:pic>
        <p:nvPicPr>
          <p:cNvPr id="3074" name="Picture 2" descr="SQL Is Cool Again. How modern analysts ship faster with AI… | by Neurobyte  | Nov, 2025 | Medium">
            <a:extLst>
              <a:ext uri="{FF2B5EF4-FFF2-40B4-BE49-F238E27FC236}">
                <a16:creationId xmlns:a16="http://schemas.microsoft.com/office/drawing/2014/main" id="{AA919B4C-AD9C-DF00-FF84-8EA47D8619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357088" y="1306194"/>
            <a:ext cx="4229206" cy="28183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5A9D480-D021-EFFD-33DD-419C08B21964}"/>
              </a:ext>
            </a:extLst>
          </p:cNvPr>
          <p:cNvSpPr txBox="1"/>
          <p:nvPr/>
        </p:nvSpPr>
        <p:spPr>
          <a:xfrm>
            <a:off x="8596822" y="4800599"/>
            <a:ext cx="3788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Space Grotesk"/>
              </a:rPr>
              <a:t>2</a:t>
            </a:r>
          </a:p>
        </p:txBody>
      </p:sp>
    </p:spTree>
  </p:cSld>
  <p:clrMapOvr>
    <a:masterClrMapping/>
  </p:clrMapOvr>
  <p:transition spd="med">
    <p:pull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4266720" cy="980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Database Design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subTitle"/>
          </p:nvPr>
        </p:nvSpPr>
        <p:spPr>
          <a:xfrm>
            <a:off x="130630" y="783792"/>
            <a:ext cx="4266719" cy="4131108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dirty="0">
                <a:latin typeface="Space Grotesk"/>
              </a:rPr>
              <a:t>  The script begins by creating a new database called </a:t>
            </a:r>
            <a:r>
              <a:rPr lang="en-US" sz="1400" b="1" dirty="0" err="1">
                <a:latin typeface="Space Grotesk"/>
              </a:rPr>
              <a:t>OnlineStore</a:t>
            </a:r>
            <a:r>
              <a:rPr lang="en-US" sz="1400" dirty="0">
                <a:latin typeface="Space Grotesk"/>
              </a:rPr>
              <a:t>.</a:t>
            </a:r>
            <a:br>
              <a:rPr lang="en-US" sz="1400" dirty="0">
                <a:latin typeface="Space Grotesk"/>
              </a:rPr>
            </a:br>
            <a:r>
              <a:rPr lang="en-US" sz="1400" dirty="0">
                <a:latin typeface="Space Grotesk"/>
              </a:rPr>
              <a:t>  I designed seven tables needed for an online shop.</a:t>
            </a:r>
          </a:p>
          <a:p>
            <a:r>
              <a:rPr lang="en-US" sz="1400" dirty="0">
                <a:latin typeface="Space Grotesk"/>
              </a:rPr>
              <a:t>Every table includes an </a:t>
            </a:r>
            <a:r>
              <a:rPr lang="en-US" sz="1400" b="1" dirty="0">
                <a:latin typeface="Space Grotesk"/>
              </a:rPr>
              <a:t>auto-incrementing Primary Key (INT IDENTITY)</a:t>
            </a:r>
            <a:r>
              <a:rPr lang="en-US" sz="1400" dirty="0">
                <a:latin typeface="Space Grotesk"/>
              </a:rPr>
              <a:t> to uniquely identify each record.</a:t>
            </a:r>
          </a:p>
          <a:p>
            <a:r>
              <a:rPr lang="en-US" sz="1400" dirty="0">
                <a:latin typeface="Space Grotesk"/>
              </a:rPr>
              <a:t>  I also defined </a:t>
            </a:r>
            <a:r>
              <a:rPr lang="en-US" sz="1400" b="1" dirty="0">
                <a:latin typeface="Space Grotesk"/>
              </a:rPr>
              <a:t>Foreign Keys</a:t>
            </a:r>
            <a:r>
              <a:rPr lang="en-US" sz="1400" dirty="0">
                <a:latin typeface="Space Grotesk"/>
              </a:rPr>
              <a:t> to maintain relationships: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>
                <a:latin typeface="Space Grotesk"/>
              </a:rPr>
              <a:t> Orders → Customers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>
                <a:latin typeface="Space Grotesk"/>
              </a:rPr>
              <a:t> Products → Categories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>
                <a:latin typeface="Space Grotesk"/>
              </a:rPr>
              <a:t> </a:t>
            </a:r>
            <a:r>
              <a:rPr lang="en-US" sz="1400" dirty="0" err="1">
                <a:latin typeface="Space Grotesk"/>
              </a:rPr>
              <a:t>OrderItems</a:t>
            </a:r>
            <a:r>
              <a:rPr lang="en-US" sz="1400" dirty="0">
                <a:latin typeface="Space Grotesk"/>
              </a:rPr>
              <a:t> → Orders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>
                <a:latin typeface="Space Grotesk"/>
              </a:rPr>
              <a:t> </a:t>
            </a:r>
            <a:r>
              <a:rPr lang="en-US" sz="1400" dirty="0" err="1">
                <a:latin typeface="Space Grotesk"/>
              </a:rPr>
              <a:t>OrderItems</a:t>
            </a:r>
            <a:r>
              <a:rPr lang="en-US" sz="1400" dirty="0">
                <a:latin typeface="Space Grotesk"/>
              </a:rPr>
              <a:t> → Products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>
                <a:latin typeface="Space Grotesk"/>
              </a:rPr>
              <a:t> Payments → Orders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>
                <a:latin typeface="Space Grotesk"/>
              </a:rPr>
              <a:t> Logs → Customers</a:t>
            </a:r>
          </a:p>
          <a:p>
            <a:r>
              <a:rPr lang="en-US" sz="1400" dirty="0">
                <a:latin typeface="Space Grotesk"/>
              </a:rPr>
              <a:t>  A </a:t>
            </a:r>
            <a:r>
              <a:rPr lang="en-US" sz="1400" b="1" dirty="0">
                <a:latin typeface="Space Grotesk"/>
              </a:rPr>
              <a:t>many-to-many relationship</a:t>
            </a:r>
            <a:r>
              <a:rPr lang="en-US" sz="1400" dirty="0">
                <a:latin typeface="Space Grotesk"/>
              </a:rPr>
              <a:t> between </a:t>
            </a:r>
            <a:r>
              <a:rPr lang="en-US" sz="1400" i="1" dirty="0">
                <a:latin typeface="Space Grotesk"/>
              </a:rPr>
              <a:t>Orders</a:t>
            </a:r>
            <a:r>
              <a:rPr lang="en-US" sz="1400" dirty="0">
                <a:latin typeface="Space Grotesk"/>
              </a:rPr>
              <a:t> and </a:t>
            </a:r>
            <a:r>
              <a:rPr lang="en-US" sz="1400" i="1" dirty="0">
                <a:latin typeface="Space Grotesk"/>
              </a:rPr>
              <a:t>Products</a:t>
            </a:r>
            <a:r>
              <a:rPr lang="en-US" sz="1400" dirty="0">
                <a:latin typeface="Space Grotesk"/>
              </a:rPr>
              <a:t> is implemented through the </a:t>
            </a:r>
            <a:r>
              <a:rPr lang="en-US" sz="1400" dirty="0" err="1">
                <a:latin typeface="Space Grotesk"/>
              </a:rPr>
              <a:t>OrderItems</a:t>
            </a:r>
            <a:r>
              <a:rPr lang="en-US" sz="1400" dirty="0">
                <a:latin typeface="Space Grotesk"/>
              </a:rPr>
              <a:t> junction table, which also contains a UNIQUE constraint to prevent duplicates.</a:t>
            </a:r>
          </a:p>
          <a:p>
            <a:r>
              <a:rPr lang="en-US" sz="1400" dirty="0">
                <a:latin typeface="Space Grotesk"/>
              </a:rPr>
              <a:t>  The database uses a wide range of </a:t>
            </a:r>
            <a:r>
              <a:rPr lang="en-US" sz="1400" b="1" dirty="0">
                <a:latin typeface="Space Grotesk"/>
              </a:rPr>
              <a:t>data types</a:t>
            </a:r>
            <a:r>
              <a:rPr lang="en-US" sz="1400" dirty="0">
                <a:latin typeface="Space Grotesk"/>
              </a:rPr>
              <a:t>, such as INT, VARCHAR, DATETIME, DECIMAL, and BIT</a:t>
            </a:r>
          </a:p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Space Grotesk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E068A18-FF41-3A26-4546-73A3D68BF9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1432" y="3240749"/>
            <a:ext cx="3526377" cy="127987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A6570DB-ED07-EBA6-2930-20D7F1202B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9146" y="505268"/>
            <a:ext cx="3790950" cy="762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8E3DA52-EF31-A51E-EF1E-D71230254B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4908" y="1706704"/>
            <a:ext cx="3899424" cy="105021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59BC5E2-EE6D-3CB2-F10F-79F0C74062C3}"/>
              </a:ext>
            </a:extLst>
          </p:cNvPr>
          <p:cNvSpPr txBox="1"/>
          <p:nvPr/>
        </p:nvSpPr>
        <p:spPr>
          <a:xfrm>
            <a:off x="8596822" y="4800599"/>
            <a:ext cx="3788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Space Grotesk"/>
              </a:rPr>
              <a:t>3</a:t>
            </a:r>
          </a:p>
        </p:txBody>
      </p:sp>
    </p:spTree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204216" y="243840"/>
            <a:ext cx="1844040" cy="585984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Indexes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subTitle"/>
          </p:nvPr>
        </p:nvSpPr>
        <p:spPr>
          <a:xfrm>
            <a:off x="204215" y="967092"/>
            <a:ext cx="3674101" cy="366797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400" dirty="0">
                <a:latin typeface="Space Grotesk"/>
              </a:rPr>
              <a:t>  To improve performance, the project includes several indexes: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Space Grotesk"/>
              </a:rPr>
              <a:t> A </a:t>
            </a:r>
            <a:r>
              <a:rPr lang="en-US" sz="1400" b="1" dirty="0">
                <a:latin typeface="Space Grotesk"/>
              </a:rPr>
              <a:t>unique index</a:t>
            </a:r>
            <a:r>
              <a:rPr lang="en-US" sz="1400" dirty="0">
                <a:latin typeface="Space Grotesk"/>
              </a:rPr>
              <a:t> on customer emails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Space Grotesk"/>
              </a:rPr>
              <a:t> An index on ProductName to speed up product searches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Space Grotesk"/>
              </a:rPr>
              <a:t> An index on </a:t>
            </a:r>
            <a:r>
              <a:rPr lang="en-US" sz="1400" dirty="0" err="1">
                <a:latin typeface="Space Grotesk"/>
              </a:rPr>
              <a:t>OrderDate</a:t>
            </a:r>
            <a:r>
              <a:rPr lang="en-US" sz="1400" dirty="0">
                <a:latin typeface="Space Grotesk"/>
              </a:rPr>
              <a:t> for efficient sorting and filtering</a:t>
            </a:r>
          </a:p>
          <a:p>
            <a:pPr>
              <a:lnSpc>
                <a:spcPct val="100000"/>
              </a:lnSpc>
            </a:pPr>
            <a:r>
              <a:rPr lang="en-US" sz="1400" dirty="0">
                <a:latin typeface="Space Grotesk"/>
              </a:rPr>
              <a:t>  These meet the requirement of demonstrating both </a:t>
            </a:r>
            <a:r>
              <a:rPr lang="en-US" sz="1400" b="1" dirty="0">
                <a:latin typeface="Space Grotesk"/>
              </a:rPr>
              <a:t>unique</a:t>
            </a:r>
            <a:r>
              <a:rPr lang="en-US" sz="1400" dirty="0">
                <a:latin typeface="Space Grotesk"/>
              </a:rPr>
              <a:t> and </a:t>
            </a:r>
            <a:r>
              <a:rPr lang="en-US" sz="1400" b="1" dirty="0">
                <a:latin typeface="Space Grotesk"/>
              </a:rPr>
              <a:t>non-unique</a:t>
            </a:r>
            <a:r>
              <a:rPr lang="en-US" sz="1400" dirty="0">
                <a:latin typeface="Space Grotesk"/>
              </a:rPr>
              <a:t> indexes.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3592527-1911-2F2E-7261-F56EC9B27E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6835" y="1653920"/>
            <a:ext cx="4552950" cy="58102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906C307-9733-3625-9D81-224D812C72AB}"/>
              </a:ext>
            </a:extLst>
          </p:cNvPr>
          <p:cNvSpPr txBox="1"/>
          <p:nvPr/>
        </p:nvSpPr>
        <p:spPr>
          <a:xfrm>
            <a:off x="8596822" y="4800599"/>
            <a:ext cx="3788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Space Grotesk"/>
              </a:rPr>
              <a:t>4</a:t>
            </a:r>
          </a:p>
        </p:txBody>
      </p:sp>
    </p:spTree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176048" y="168988"/>
            <a:ext cx="3082159" cy="593131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Data Manipulation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B5CEBA4-DC92-6B41-ABD7-71E803561F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5132" y="1527201"/>
            <a:ext cx="3442363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The Course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Project.sql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 file contains full examples of: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 INSERT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 statements using multi-row inserts for all tables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 UPDATE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 operations, such as applying discounts and increasing stock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 DELETE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 operations applied to filtered rows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A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TRUNCATE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 operation on the Logs table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This demonstrates all required types of data manipulation.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EEC489A-6B6A-CBB8-497F-B92EAFF0C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6286" y="1017751"/>
            <a:ext cx="3556090" cy="93969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723C091-5F92-9BE5-CA9E-83E14EE330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9793" y="2393411"/>
            <a:ext cx="4029075" cy="5143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7199BE-67C5-215B-D891-D1D90024D8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8430" y="3254642"/>
            <a:ext cx="2971800" cy="342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5F64268-CFD9-C88F-6BB9-24981AEF93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9480" y="4075474"/>
            <a:ext cx="1409700" cy="21907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BBD016-9F0C-02FE-C9D2-9BDF015C2650}"/>
              </a:ext>
            </a:extLst>
          </p:cNvPr>
          <p:cNvSpPr txBox="1"/>
          <p:nvPr/>
        </p:nvSpPr>
        <p:spPr>
          <a:xfrm>
            <a:off x="8596822" y="4800599"/>
            <a:ext cx="3788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Space Grotesk"/>
              </a:rPr>
              <a:t>5</a:t>
            </a:r>
          </a:p>
        </p:txBody>
      </p:sp>
    </p:spTree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E38AD-2DF0-AA71-0E66-0802A8AF6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09005"/>
            <a:ext cx="1972491" cy="567720"/>
          </a:xfrm>
        </p:spPr>
        <p:txBody>
          <a:bodyPr/>
          <a:lstStyle/>
          <a:p>
            <a:r>
              <a:rPr lang="en-US" sz="2600" b="1" dirty="0">
                <a:latin typeface="Space Grotesk"/>
              </a:rPr>
              <a:t>Diagram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35449B-AC5C-233A-29C6-0D62055DC8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43" t="14233" r="930" b="7731"/>
          <a:stretch/>
        </p:blipFill>
        <p:spPr>
          <a:xfrm>
            <a:off x="1665513" y="1320163"/>
            <a:ext cx="5665935" cy="265747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1F6E3BD-02E2-8D28-613D-6A8D5C4EE85C}"/>
              </a:ext>
            </a:extLst>
          </p:cNvPr>
          <p:cNvSpPr txBox="1"/>
          <p:nvPr/>
        </p:nvSpPr>
        <p:spPr>
          <a:xfrm>
            <a:off x="8596822" y="4800599"/>
            <a:ext cx="3788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Space Grotesk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355652042"/>
      </p:ext>
    </p:extLst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228600" y="167786"/>
            <a:ext cx="3958046" cy="718354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dirty="0">
                <a:latin typeface="Space Grotesk"/>
              </a:rPr>
              <a:t>Data Retrieval and Queries</a:t>
            </a:r>
            <a:endParaRPr lang="fr-FR" sz="2600" b="1" u="none" strike="noStrike" dirty="0">
              <a:solidFill>
                <a:schemeClr val="dk1"/>
              </a:solidFill>
              <a:effectLst/>
              <a:uFillTx/>
              <a:latin typeface="Space Grotesk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subTitle"/>
          </p:nvPr>
        </p:nvSpPr>
        <p:spPr>
          <a:xfrm>
            <a:off x="355526" y="990035"/>
            <a:ext cx="4084127" cy="36180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b="1" dirty="0">
                <a:latin typeface="Space Grotesk"/>
              </a:rPr>
              <a:t>Aggregation and Grouping:</a:t>
            </a:r>
          </a:p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dirty="0">
                <a:latin typeface="Space Grotesk"/>
              </a:rPr>
              <a:t>  Utilized aggregate functions like COUNT, AVG, and SUM to calculate product statistics, total spending by customers, and product stock by category.</a:t>
            </a:r>
          </a:p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b="1" dirty="0">
                <a:latin typeface="Space Grotesk"/>
              </a:rPr>
              <a:t>Pagination:</a:t>
            </a:r>
          </a:p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dirty="0">
                <a:latin typeface="Space Grotesk"/>
              </a:rPr>
              <a:t>  Implemented pagination using OFFSET … FETCH NEXT to retrieve products in pages.</a:t>
            </a:r>
          </a:p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b="1" dirty="0">
                <a:latin typeface="Space Grotesk"/>
              </a:rPr>
              <a:t>Aggregation of Customer Spending:</a:t>
            </a:r>
          </a:p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dirty="0">
                <a:latin typeface="Space Grotesk"/>
              </a:rPr>
              <a:t>  Summed up the total spending per customer using LEFT JOIN between </a:t>
            </a:r>
            <a:r>
              <a:rPr lang="en-US" sz="1400" b="1" dirty="0">
                <a:latin typeface="Space Grotesk"/>
              </a:rPr>
              <a:t>Customers</a:t>
            </a:r>
            <a:r>
              <a:rPr lang="en-US" sz="1400" dirty="0">
                <a:latin typeface="Space Grotesk"/>
              </a:rPr>
              <a:t> and </a:t>
            </a:r>
            <a:r>
              <a:rPr lang="en-US" sz="1400" b="1" dirty="0">
                <a:latin typeface="Space Grotesk"/>
              </a:rPr>
              <a:t>Orders</a:t>
            </a:r>
            <a:r>
              <a:rPr lang="en-US" sz="1400" dirty="0">
                <a:latin typeface="Space Grotesk"/>
              </a:rPr>
              <a:t>.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Space Grotesk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180B2A-B154-6680-71FC-0CA515B04C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7970" y="611184"/>
            <a:ext cx="3286125" cy="13716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C134FBB-9D3C-3B30-554E-7469EC883F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4223" y="2207092"/>
            <a:ext cx="3088198" cy="72931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39D017E-7429-DEAF-BBD1-5D6722CD5C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2397" y="3160716"/>
            <a:ext cx="3371850" cy="11049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FCE677A-C3B1-AD87-8132-4BAF01CD9691}"/>
              </a:ext>
            </a:extLst>
          </p:cNvPr>
          <p:cNvSpPr txBox="1"/>
          <p:nvPr/>
        </p:nvSpPr>
        <p:spPr>
          <a:xfrm>
            <a:off x="8596822" y="4800599"/>
            <a:ext cx="3788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Space Grotesk"/>
              </a:rPr>
              <a:t>7</a:t>
            </a:r>
          </a:p>
        </p:txBody>
      </p:sp>
    </p:spTree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4266720" cy="980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Joins and Views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subTitle"/>
          </p:nvPr>
        </p:nvSpPr>
        <p:spPr>
          <a:xfrm>
            <a:off x="219601" y="1076399"/>
            <a:ext cx="3835042" cy="359185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r>
              <a:rPr lang="en-US" sz="1400" b="1" dirty="0">
                <a:latin typeface="Space Grotesk"/>
              </a:rPr>
              <a:t>Joins:</a:t>
            </a:r>
          </a:p>
          <a:p>
            <a:r>
              <a:rPr lang="en-US" sz="1400" b="1" dirty="0">
                <a:latin typeface="Space Grotesk"/>
              </a:rPr>
              <a:t>  INNER JOIN</a:t>
            </a:r>
            <a:r>
              <a:rPr lang="en-US" sz="1400" dirty="0">
                <a:latin typeface="Space Grotesk"/>
              </a:rPr>
              <a:t>: Combined data from </a:t>
            </a:r>
            <a:r>
              <a:rPr lang="en-US" sz="1400" b="1" dirty="0">
                <a:latin typeface="Space Grotesk"/>
              </a:rPr>
              <a:t>Customers</a:t>
            </a:r>
            <a:r>
              <a:rPr lang="en-US" sz="1400" dirty="0">
                <a:latin typeface="Space Grotesk"/>
              </a:rPr>
              <a:t> and </a:t>
            </a:r>
            <a:r>
              <a:rPr lang="en-US" sz="1400" b="1" dirty="0">
                <a:latin typeface="Space Grotesk"/>
              </a:rPr>
              <a:t>Orders</a:t>
            </a:r>
            <a:r>
              <a:rPr lang="en-US" sz="1400" dirty="0">
                <a:latin typeface="Space Grotesk"/>
              </a:rPr>
              <a:t>.</a:t>
            </a:r>
          </a:p>
          <a:p>
            <a:r>
              <a:rPr lang="en-US" sz="1400" b="1" dirty="0">
                <a:latin typeface="Space Grotesk"/>
              </a:rPr>
              <a:t>  LEFT JOIN</a:t>
            </a:r>
            <a:r>
              <a:rPr lang="en-US" sz="1400" dirty="0">
                <a:latin typeface="Space Grotesk"/>
              </a:rPr>
              <a:t>: Used to calculate total spending by customer.</a:t>
            </a:r>
          </a:p>
          <a:p>
            <a:r>
              <a:rPr lang="en-US" sz="1400" b="1" dirty="0">
                <a:latin typeface="Space Grotesk"/>
              </a:rPr>
              <a:t>  Multi-table JOIN</a:t>
            </a:r>
            <a:r>
              <a:rPr lang="en-US" sz="1400" dirty="0">
                <a:latin typeface="Space Grotesk"/>
              </a:rPr>
              <a:t>: Combined </a:t>
            </a:r>
            <a:r>
              <a:rPr lang="en-US" sz="1400" b="1" dirty="0">
                <a:latin typeface="Space Grotesk"/>
              </a:rPr>
              <a:t>Customers</a:t>
            </a:r>
            <a:r>
              <a:rPr lang="en-US" sz="1400" dirty="0">
                <a:latin typeface="Space Grotesk"/>
              </a:rPr>
              <a:t>, </a:t>
            </a:r>
            <a:r>
              <a:rPr lang="en-US" sz="1400" b="1" dirty="0">
                <a:latin typeface="Space Grotesk"/>
              </a:rPr>
              <a:t>Orders</a:t>
            </a:r>
            <a:r>
              <a:rPr lang="en-US" sz="1400" dirty="0">
                <a:latin typeface="Space Grotesk"/>
              </a:rPr>
              <a:t>, </a:t>
            </a:r>
            <a:r>
              <a:rPr lang="en-US" sz="1400" b="1" dirty="0" err="1">
                <a:latin typeface="Space Grotesk"/>
              </a:rPr>
              <a:t>OrderItems</a:t>
            </a:r>
            <a:r>
              <a:rPr lang="en-US" sz="1400" dirty="0">
                <a:latin typeface="Space Grotesk"/>
              </a:rPr>
              <a:t>, and </a:t>
            </a:r>
            <a:r>
              <a:rPr lang="en-US" sz="1400" b="1" dirty="0">
                <a:latin typeface="Space Grotesk"/>
              </a:rPr>
              <a:t>Products</a:t>
            </a:r>
            <a:r>
              <a:rPr lang="en-US" sz="1400" dirty="0">
                <a:latin typeface="Space Grotesk"/>
              </a:rPr>
              <a:t> to retrieve complete order details.</a:t>
            </a:r>
          </a:p>
          <a:p>
            <a:r>
              <a:rPr lang="en-US" sz="1400" b="1" dirty="0">
                <a:latin typeface="Space Grotesk"/>
              </a:rPr>
              <a:t>View:</a:t>
            </a:r>
          </a:p>
          <a:p>
            <a:r>
              <a:rPr lang="en-US" sz="1400" dirty="0">
                <a:latin typeface="Space Grotesk"/>
              </a:rPr>
              <a:t>  Created a view named </a:t>
            </a:r>
            <a:r>
              <a:rPr lang="en-US" sz="1400" dirty="0" err="1">
                <a:latin typeface="Space Grotesk"/>
              </a:rPr>
              <a:t>OrderDetails</a:t>
            </a:r>
            <a:r>
              <a:rPr lang="en-US" sz="1400" dirty="0">
                <a:latin typeface="Space Grotesk"/>
              </a:rPr>
              <a:t> that combines data from </a:t>
            </a:r>
            <a:r>
              <a:rPr lang="en-US" sz="1400" b="1" dirty="0">
                <a:latin typeface="Space Grotesk"/>
              </a:rPr>
              <a:t>Customers</a:t>
            </a:r>
            <a:r>
              <a:rPr lang="en-US" sz="1400" dirty="0">
                <a:latin typeface="Space Grotesk"/>
              </a:rPr>
              <a:t>, </a:t>
            </a:r>
            <a:r>
              <a:rPr lang="en-US" sz="1400" b="1" dirty="0">
                <a:latin typeface="Space Grotesk"/>
              </a:rPr>
              <a:t>Orders</a:t>
            </a:r>
            <a:r>
              <a:rPr lang="en-US" sz="1400" dirty="0">
                <a:latin typeface="Space Grotesk"/>
              </a:rPr>
              <a:t>, </a:t>
            </a:r>
            <a:r>
              <a:rPr lang="en-US" sz="1400" b="1" dirty="0" err="1">
                <a:latin typeface="Space Grotesk"/>
              </a:rPr>
              <a:t>OrderItems</a:t>
            </a:r>
            <a:r>
              <a:rPr lang="en-US" sz="1400" dirty="0">
                <a:latin typeface="Space Grotesk"/>
              </a:rPr>
              <a:t>, and </a:t>
            </a:r>
            <a:r>
              <a:rPr lang="en-US" sz="1400" b="1" dirty="0">
                <a:latin typeface="Space Grotesk"/>
              </a:rPr>
              <a:t>Products</a:t>
            </a:r>
            <a:r>
              <a:rPr lang="en-US" sz="1400" dirty="0">
                <a:latin typeface="Space Grotesk"/>
              </a:rPr>
              <a:t>, making it easier to query for detailed order information.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F27ADC-BCB6-29D0-4553-DD3689F132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9359" y="952065"/>
            <a:ext cx="3105150" cy="5143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FAA7547-BB99-7D3D-B1CE-BE6F515749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9359" y="1921543"/>
            <a:ext cx="3057525" cy="8191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C7016C3-43C7-E1E7-BAB8-91170D499F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8899" y="3859129"/>
            <a:ext cx="5905500" cy="9144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7AFFD82-89B7-1E9D-65E8-14776DEB5C82}"/>
              </a:ext>
            </a:extLst>
          </p:cNvPr>
          <p:cNvSpPr txBox="1"/>
          <p:nvPr/>
        </p:nvSpPr>
        <p:spPr>
          <a:xfrm>
            <a:off x="8596822" y="4800599"/>
            <a:ext cx="3788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Space Grotesk"/>
              </a:rPr>
              <a:t>8</a:t>
            </a:r>
          </a:p>
        </p:txBody>
      </p:sp>
    </p:spTree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132347" y="152394"/>
            <a:ext cx="7423484" cy="609726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Procedures, Functions, Triggers, and Transactions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subTitle"/>
          </p:nvPr>
        </p:nvSpPr>
        <p:spPr>
          <a:xfrm>
            <a:off x="286086" y="943470"/>
            <a:ext cx="3407609" cy="3905256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r>
              <a:rPr lang="en-US" sz="1400" b="1" dirty="0">
                <a:latin typeface="Space Grotesk"/>
              </a:rPr>
              <a:t>SQL Function:</a:t>
            </a:r>
          </a:p>
          <a:p>
            <a:r>
              <a:rPr lang="en-US" sz="1400" b="1" dirty="0">
                <a:latin typeface="Space Grotesk"/>
              </a:rPr>
              <a:t>  </a:t>
            </a:r>
            <a:r>
              <a:rPr lang="en-US" sz="1400" b="1" dirty="0" err="1">
                <a:latin typeface="Space Grotesk"/>
              </a:rPr>
              <a:t>GetOrderTotal</a:t>
            </a:r>
            <a:r>
              <a:rPr lang="en-US" sz="1400" dirty="0">
                <a:latin typeface="Space Grotesk"/>
              </a:rPr>
              <a:t>: Calculates the total value of an order by summing up the price and quantity of products in the order.</a:t>
            </a:r>
          </a:p>
          <a:p>
            <a:r>
              <a:rPr lang="en-US" sz="1400" b="1" dirty="0">
                <a:latin typeface="Space Grotesk"/>
              </a:rPr>
              <a:t>Trigger:</a:t>
            </a:r>
          </a:p>
          <a:p>
            <a:r>
              <a:rPr lang="en-US" sz="1400" b="1" dirty="0">
                <a:latin typeface="Space Grotesk"/>
              </a:rPr>
              <a:t>  </a:t>
            </a:r>
            <a:r>
              <a:rPr lang="en-US" sz="1400" b="1" dirty="0" err="1">
                <a:latin typeface="Space Grotesk"/>
              </a:rPr>
              <a:t>UpdateOrderTotal</a:t>
            </a:r>
            <a:r>
              <a:rPr lang="en-US" sz="1400" dirty="0">
                <a:latin typeface="Space Grotesk"/>
              </a:rPr>
              <a:t>: Automatically updates the Total field in the Orders table whenever </a:t>
            </a:r>
            <a:r>
              <a:rPr lang="en-US" sz="1400" dirty="0" err="1">
                <a:latin typeface="Space Grotesk"/>
              </a:rPr>
              <a:t>OrderItems</a:t>
            </a:r>
            <a:r>
              <a:rPr lang="en-US" sz="1400" dirty="0">
                <a:latin typeface="Space Grotesk"/>
              </a:rPr>
              <a:t> are inserted, updated, or deleted.</a:t>
            </a:r>
          </a:p>
          <a:p>
            <a:r>
              <a:rPr lang="en-US" sz="1400" b="1" dirty="0">
                <a:latin typeface="Space Grotesk"/>
              </a:rPr>
              <a:t>Stored Procedure:</a:t>
            </a:r>
          </a:p>
          <a:p>
            <a:r>
              <a:rPr lang="en-US" sz="1400" b="1" dirty="0">
                <a:latin typeface="Space Grotesk"/>
              </a:rPr>
              <a:t>  </a:t>
            </a:r>
            <a:r>
              <a:rPr lang="en-US" sz="1400" b="1" dirty="0" err="1">
                <a:latin typeface="Space Grotesk"/>
              </a:rPr>
              <a:t>GetOrdersPaged</a:t>
            </a:r>
            <a:r>
              <a:rPr lang="en-US" sz="1400" dirty="0">
                <a:latin typeface="Space Grotesk"/>
              </a:rPr>
              <a:t>: Retrieves a paginated list of orders for a specific customer, allowing for efficient retrieval of large datasets.</a:t>
            </a:r>
          </a:p>
          <a:p>
            <a:r>
              <a:rPr lang="en-US" sz="1400" b="1" dirty="0">
                <a:latin typeface="Space Grotesk"/>
              </a:rPr>
              <a:t>Manual Transaction:</a:t>
            </a:r>
          </a:p>
          <a:p>
            <a:r>
              <a:rPr lang="en-US" sz="1400" dirty="0">
                <a:latin typeface="Space Grotesk"/>
              </a:rPr>
              <a:t>  Used BEGIN TRANSACTION, COMMIT, and ROLLBACK to ensure atomicity of database operations such as creating an order and adding order items.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5E9A39-8D5A-0081-EFA5-74EF734AE5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2954" y="773845"/>
            <a:ext cx="3407609" cy="59073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A9DAC6C-AA8F-8EE6-EE2B-199FC67471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3916" y="1476322"/>
            <a:ext cx="3733998" cy="8323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F28ADCB-9FD3-68E8-96FD-3C8AA80BB1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2321" y="2388230"/>
            <a:ext cx="2653731" cy="111029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34696A2-61CA-8005-9BA1-58A649A734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7159" y="3578053"/>
            <a:ext cx="2417787" cy="143319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8C27E03-C9BD-3D5C-0F44-6983B6DD6274}"/>
              </a:ext>
            </a:extLst>
          </p:cNvPr>
          <p:cNvSpPr txBox="1"/>
          <p:nvPr/>
        </p:nvSpPr>
        <p:spPr>
          <a:xfrm>
            <a:off x="8596822" y="4800599"/>
            <a:ext cx="3788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Space Grotesk"/>
              </a:rPr>
              <a:t>9</a:t>
            </a:r>
          </a:p>
        </p:txBody>
      </p:sp>
    </p:spTree>
  </p:cSld>
  <p:clrMapOvr>
    <a:masterClrMapping/>
  </p:clrMapOvr>
  <p:transition spd="med">
    <p:pull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What is SQL and why is it beneficial for businesses?">
            <a:extLst>
              <a:ext uri="{FF2B5EF4-FFF2-40B4-BE49-F238E27FC236}">
                <a16:creationId xmlns:a16="http://schemas.microsoft.com/office/drawing/2014/main" id="{CAB45B9E-30F3-73AA-988C-2F62A04628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8561" y="648643"/>
            <a:ext cx="4898950" cy="32559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4266720" cy="980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Conclusions</a:t>
            </a:r>
            <a:endParaRPr lang="fr-FR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subTitle"/>
          </p:nvPr>
        </p:nvSpPr>
        <p:spPr>
          <a:xfrm>
            <a:off x="219600" y="1209240"/>
            <a:ext cx="3470657" cy="2695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dirty="0">
                <a:latin typeface="Space Grotesk"/>
              </a:rPr>
              <a:t>  This project demonstrates practical experience in designing and implementing a relational database in </a:t>
            </a:r>
            <a:r>
              <a:rPr lang="en-US" sz="1400" b="1" dirty="0">
                <a:latin typeface="Space Grotesk"/>
              </a:rPr>
              <a:t>Microsoft SQL Server</a:t>
            </a:r>
            <a:r>
              <a:rPr lang="en-US" sz="1400" dirty="0">
                <a:latin typeface="Space Grotesk"/>
              </a:rPr>
              <a:t>, covering all aspects of database management, from creation and population to querying and advanced operations.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Space Grotesk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BD9611B-392A-F887-7658-16E2AF90E4BA}"/>
              </a:ext>
            </a:extLst>
          </p:cNvPr>
          <p:cNvSpPr txBox="1"/>
          <p:nvPr/>
        </p:nvSpPr>
        <p:spPr>
          <a:xfrm>
            <a:off x="8596822" y="4800599"/>
            <a:ext cx="3788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Space Grotesk"/>
              </a:rPr>
              <a:t>10</a:t>
            </a:r>
          </a:p>
        </p:txBody>
      </p:sp>
    </p:spTree>
  </p:cSld>
  <p:clrMapOvr>
    <a:masterClrMapping/>
  </p:clrMapOvr>
  <p:transition spd="med">
    <p:pull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228600" y="-416160"/>
            <a:ext cx="5619240" cy="2377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sp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72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Thank you</a:t>
            </a:r>
            <a:endParaRPr lang="fr-FR" sz="72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subTitle"/>
          </p:nvPr>
        </p:nvSpPr>
        <p:spPr>
          <a:xfrm>
            <a:off x="225000" y="2566045"/>
            <a:ext cx="2609640" cy="40011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sp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1400" b="1" u="none" strike="noStrike" dirty="0">
                <a:solidFill>
                  <a:schemeClr val="dk1"/>
                </a:solidFill>
                <a:effectLst/>
                <a:uFillTx/>
                <a:latin typeface="Hind"/>
                <a:ea typeface="Hind"/>
              </a:rPr>
              <a:t>Do you have any questions?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cxnSp>
        <p:nvCxnSpPr>
          <p:cNvPr id="70" name="Google Shape;311;p38"/>
          <p:cNvCxnSpPr/>
          <p:nvPr/>
        </p:nvCxnSpPr>
        <p:spPr>
          <a:xfrm>
            <a:off x="290520" y="3008880"/>
            <a:ext cx="2544120" cy="360"/>
          </a:xfrm>
          <a:prstGeom prst="straightConnector1">
            <a:avLst/>
          </a:prstGeom>
          <a:ln w="9525">
            <a:solidFill>
              <a:srgbClr val="FFFFFF"/>
            </a:solidFill>
            <a:round/>
          </a:ln>
        </p:spPr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945B59A2-3A2D-B077-105D-0043E2A80694}"/>
              </a:ext>
            </a:extLst>
          </p:cNvPr>
          <p:cNvSpPr txBox="1"/>
          <p:nvPr/>
        </p:nvSpPr>
        <p:spPr>
          <a:xfrm>
            <a:off x="8596822" y="4800599"/>
            <a:ext cx="3788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Space Grotesk"/>
              </a:rPr>
              <a:t>11</a:t>
            </a:r>
          </a:p>
        </p:txBody>
      </p:sp>
    </p:spTree>
  </p:cSld>
  <p:clrMapOvr>
    <a:masterClrMapping/>
  </p:clrMapOvr>
  <p:transition spd="med">
    <p:pull/>
  </p:transition>
</p:sld>
</file>

<file path=ppt/theme/theme1.xml><?xml version="1.0" encoding="utf-8"?>
<a:theme xmlns:a="http://schemas.openxmlformats.org/drawingml/2006/main" name="Dark Theme by Slidesgo">
  <a:themeElements>
    <a:clrScheme name="Simple Light">
      <a:dk1>
        <a:srgbClr val="FFFFFF"/>
      </a:dk1>
      <a:lt1>
        <a:srgbClr val="0D0D0D"/>
      </a:lt1>
      <a:dk2>
        <a:srgbClr val="FFFFFF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FFFFFF"/>
      </a:dk1>
      <a:lt1>
        <a:srgbClr val="22244E"/>
      </a:lt1>
      <a:dk2>
        <a:srgbClr val="503259"/>
      </a:dk2>
      <a:lt2>
        <a:srgbClr val="765186"/>
      </a:lt2>
      <a:accent1>
        <a:srgbClr val="B07CC6"/>
      </a:accent1>
      <a:accent2>
        <a:srgbClr val="FAF6E7"/>
      </a:accent2>
      <a:accent3>
        <a:srgbClr val="E3DFD2"/>
      </a:accent3>
      <a:accent4>
        <a:srgbClr val="FFFFFF"/>
      </a:accent4>
      <a:accent5>
        <a:srgbClr val="FFFFFF"/>
      </a:accent5>
      <a:accent6>
        <a:srgbClr val="FFFFFF"/>
      </a:accent6>
      <a:hlink>
        <a:srgbClr val="765186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68</TotalTime>
  <Words>653</Words>
  <Application>Microsoft Office PowerPoint</Application>
  <PresentationFormat>On-screen Show (16:9)</PresentationFormat>
  <Paragraphs>68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20" baseType="lpstr">
      <vt:lpstr>Aptos</vt:lpstr>
      <vt:lpstr>Arial</vt:lpstr>
      <vt:lpstr>Hind</vt:lpstr>
      <vt:lpstr>OpenSymbol</vt:lpstr>
      <vt:lpstr>Space Grotesk</vt:lpstr>
      <vt:lpstr>Symbol</vt:lpstr>
      <vt:lpstr>Wingdings</vt:lpstr>
      <vt:lpstr>Dark Theme by Slidesgo</vt:lpstr>
      <vt:lpstr>Slidesgo Final Pages</vt:lpstr>
      <vt:lpstr>Database Project</vt:lpstr>
      <vt:lpstr>Overview</vt:lpstr>
      <vt:lpstr>Database Design</vt:lpstr>
      <vt:lpstr>Indexes</vt:lpstr>
      <vt:lpstr>Data Manipulation</vt:lpstr>
      <vt:lpstr>Diagram</vt:lpstr>
      <vt:lpstr>Data Retrieval and Queries</vt:lpstr>
      <vt:lpstr>Joins and Views</vt:lpstr>
      <vt:lpstr>Procedures, Functions, Triggers, and Transactions</vt:lpstr>
      <vt:lpstr>Conclusions</vt:lpstr>
      <vt:lpstr>Thank you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User</dc:creator>
  <cp:lastModifiedBy>Tretiak Mark</cp:lastModifiedBy>
  <cp:revision>13</cp:revision>
  <dcterms:modified xsi:type="dcterms:W3CDTF">2025-12-03T06:48:24Z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2025-11-30T14:20:30Z</dcterms:created>
  <dc:creator>Unknown Creator</dc:creator>
  <dc:description/>
  <dc:language>en-US</dc:language>
  <cp:lastModifiedBy>Unknown Creator</cp:lastModifiedBy>
  <dcterms:modified xsi:type="dcterms:W3CDTF">2025-11-30T14:20:30Z</dcterms:modified>
  <cp:revision>0</cp:revision>
  <dc:subject/>
  <dc:title>Untitled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es">
    <vt:r8>12</vt:r8>
  </property>
</Properties>
</file>